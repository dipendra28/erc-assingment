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swald Bold" charset="1" panose="000008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  <p:embeddedFont>
      <p:font typeface="Muli Bold" charset="1" panose="00000800000000000000"/>
      <p:regular r:id="rId21"/>
    </p:embeddedFont>
    <p:embeddedFont>
      <p:font typeface="Muli" charset="1" panose="00000500000000000000"/>
      <p:regular r:id="rId22"/>
    </p:embeddedFont>
    <p:embeddedFont>
      <p:font typeface="ITC Benguiat" charset="1" panose="02030603050306020704"/>
      <p:regular r:id="rId23"/>
    </p:embeddedFont>
    <p:embeddedFont>
      <p:font typeface="Open Sans" charset="1" panose="00000000000000000000"/>
      <p:regular r:id="rId24"/>
    </p:embeddedFont>
    <p:embeddedFont>
      <p:font typeface="Poppins Bold" charset="1" panose="00000800000000000000"/>
      <p:regular r:id="rId25"/>
    </p:embeddedFont>
    <p:embeddedFont>
      <p:font typeface="Oswald" charset="1" panose="00000500000000000000"/>
      <p:regular r:id="rId26"/>
    </p:embeddedFont>
    <p:embeddedFont>
      <p:font typeface="Arial MT Pro Bold" charset="1" panose="020B0802020202020204"/>
      <p:regular r:id="rId27"/>
    </p:embeddedFont>
    <p:embeddedFont>
      <p:font typeface="Roboto Mono Bold" charset="1" panose="00000000000000000000"/>
      <p:regular r:id="rId28"/>
    </p:embeddedFont>
    <p:embeddedFont>
      <p:font typeface="Inter" charset="1" panose="020B0502030000000004"/>
      <p:regular r:id="rId29"/>
    </p:embeddedFont>
    <p:embeddedFont>
      <p:font typeface="Bobby Jones" charset="1" panose="00000000000000000000"/>
      <p:regular r:id="rId30"/>
    </p:embeddedFont>
    <p:embeddedFont>
      <p:font typeface="Anton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jpeg" Type="http://schemas.openxmlformats.org/officeDocument/2006/relationships/image"/><Relationship Id="rId8" Target="../media/VAHF9D14JoI.mp4" Type="http://schemas.openxmlformats.org/officeDocument/2006/relationships/video"/><Relationship Id="rId9" Target="../media/VAHF9D14JoI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95454" y="6826250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322033" y="5763260"/>
            <a:ext cx="6492240" cy="0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401626" y="3211170"/>
            <a:ext cx="8564342" cy="3864659"/>
          </a:xfrm>
          <a:custGeom>
            <a:avLst/>
            <a:gdLst/>
            <a:ahLst/>
            <a:cxnLst/>
            <a:rect r="r" b="b" t="t" l="l"/>
            <a:pathLst>
              <a:path h="3864659" w="8564342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22033" y="3008948"/>
            <a:ext cx="6790245" cy="2530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DIGITAL</a:t>
            </a:r>
          </a:p>
          <a:p>
            <a:pPr algn="l">
              <a:lnSpc>
                <a:spcPts val="9699"/>
              </a:lnSpc>
            </a:pPr>
            <a:r>
              <a:rPr lang="en-US" sz="9999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377" y="5862479"/>
            <a:ext cx="546806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From AND Gates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403377" y="6584657"/>
            <a:ext cx="438519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Algorithms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6093" y="8816975"/>
            <a:ext cx="986089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workshop for curious minds - understanding 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12416" y="9373870"/>
            <a:ext cx="81892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machine beneath your fingertips.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91883" y="3129019"/>
            <a:ext cx="8411630" cy="5347821"/>
            <a:chOff x="0" y="0"/>
            <a:chExt cx="127846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8460" cy="812800"/>
            </a:xfrm>
            <a:custGeom>
              <a:avLst/>
              <a:gdLst/>
              <a:ahLst/>
              <a:cxnLst/>
              <a:rect r="r" b="b" t="t" l="l"/>
              <a:pathLst>
                <a:path h="812800" w="1278460">
                  <a:moveTo>
                    <a:pt x="0" y="0"/>
                  </a:moveTo>
                  <a:lnTo>
                    <a:pt x="1278460" y="0"/>
                  </a:lnTo>
                  <a:lnTo>
                    <a:pt x="127846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8984" r="0" b="-898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1208" y="653249"/>
            <a:ext cx="791318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WHAT IS DIGITAL COMPUTING?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597698" y="-1769921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08709" y="7013575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391883" y="3129019"/>
            <a:ext cx="8411630" cy="5347821"/>
            <a:chOff x="0" y="0"/>
            <a:chExt cx="127846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8460" cy="812800"/>
            </a:xfrm>
            <a:custGeom>
              <a:avLst/>
              <a:gdLst/>
              <a:ahLst/>
              <a:cxnLst/>
              <a:rect r="r" b="b" t="t" l="l"/>
              <a:pathLst>
                <a:path h="812800" w="1278460">
                  <a:moveTo>
                    <a:pt x="0" y="0"/>
                  </a:moveTo>
                  <a:lnTo>
                    <a:pt x="1278460" y="0"/>
                  </a:lnTo>
                  <a:lnTo>
                    <a:pt x="127846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8984" r="0" b="-898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51208" y="653249"/>
            <a:ext cx="7913187" cy="201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b="true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WHAT IS DIGITAL COMPUTING?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1208" y="3071869"/>
            <a:ext cx="7913187" cy="511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</a:pPr>
            <a:r>
              <a:rPr lang="en-US" sz="28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•Computers work with only 2 values: 0 and 1</a:t>
            </a:r>
          </a:p>
          <a:p>
            <a:pPr algn="ctr">
              <a:lnSpc>
                <a:spcPts val="4042"/>
              </a:lnSpc>
            </a:pPr>
            <a:r>
              <a:rPr lang="en-US" sz="28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•0 = OFF (no electricity), 1 = ON (electricity flows)</a:t>
            </a:r>
          </a:p>
          <a:p>
            <a:pPr algn="ctr">
              <a:lnSpc>
                <a:spcPts val="4042"/>
              </a:lnSpc>
            </a:pPr>
            <a:r>
              <a:rPr lang="en-US" sz="28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•Everything — photos, videos, games — is stored as 0s and 1s</a:t>
            </a:r>
          </a:p>
          <a:p>
            <a:pPr algn="ctr">
              <a:lnSpc>
                <a:spcPts val="4042"/>
              </a:lnSpc>
            </a:pPr>
            <a:r>
              <a:rPr lang="en-US" sz="28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•This simple idea powers all modern technology</a:t>
            </a:r>
          </a:p>
          <a:p>
            <a:pPr algn="ctr">
              <a:lnSpc>
                <a:spcPts val="4042"/>
              </a:lnSpc>
            </a:pPr>
            <a:r>
              <a:rPr lang="en-US" sz="28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•Even your robot uses digital signals to move!</a:t>
            </a:r>
          </a:p>
          <a:p>
            <a:pPr algn="ctr">
              <a:lnSpc>
                <a:spcPts val="404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32486" y="2591359"/>
            <a:ext cx="10200520" cy="4768229"/>
          </a:xfrm>
          <a:custGeom>
            <a:avLst/>
            <a:gdLst/>
            <a:ahLst/>
            <a:cxnLst/>
            <a:rect r="r" b="b" t="t" l="l"/>
            <a:pathLst>
              <a:path h="4768229" w="10200520">
                <a:moveTo>
                  <a:pt x="0" y="0"/>
                </a:moveTo>
                <a:lnTo>
                  <a:pt x="10200520" y="0"/>
                </a:lnTo>
                <a:lnTo>
                  <a:pt x="10200520" y="4768230"/>
                </a:lnTo>
                <a:lnTo>
                  <a:pt x="0" y="476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00" t="-25899" r="0" b="-258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1647" y="1360968"/>
            <a:ext cx="11638768" cy="2429456"/>
            <a:chOff x="0" y="0"/>
            <a:chExt cx="2940030" cy="6136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40029" cy="613697"/>
            </a:xfrm>
            <a:custGeom>
              <a:avLst/>
              <a:gdLst/>
              <a:ahLst/>
              <a:cxnLst/>
              <a:rect r="r" b="b" t="t" l="l"/>
              <a:pathLst>
                <a:path h="613697" w="2940029">
                  <a:moveTo>
                    <a:pt x="33924" y="0"/>
                  </a:moveTo>
                  <a:lnTo>
                    <a:pt x="2906105" y="0"/>
                  </a:lnTo>
                  <a:cubicBezTo>
                    <a:pt x="2924841" y="0"/>
                    <a:pt x="2940029" y="15188"/>
                    <a:pt x="2940029" y="33924"/>
                  </a:cubicBezTo>
                  <a:lnTo>
                    <a:pt x="2940029" y="579772"/>
                  </a:lnTo>
                  <a:cubicBezTo>
                    <a:pt x="2940029" y="598508"/>
                    <a:pt x="2924841" y="613697"/>
                    <a:pt x="2906105" y="613697"/>
                  </a:cubicBezTo>
                  <a:lnTo>
                    <a:pt x="33924" y="613697"/>
                  </a:lnTo>
                  <a:cubicBezTo>
                    <a:pt x="15188" y="613697"/>
                    <a:pt x="0" y="598508"/>
                    <a:pt x="0" y="579772"/>
                  </a:cubicBezTo>
                  <a:lnTo>
                    <a:pt x="0" y="33924"/>
                  </a:lnTo>
                  <a:cubicBezTo>
                    <a:pt x="0" y="15188"/>
                    <a:pt x="15188" y="0"/>
                    <a:pt x="33924" y="0"/>
                  </a:cubicBezTo>
                  <a:close/>
                </a:path>
              </a:pathLst>
            </a:custGeom>
            <a:solidFill>
              <a:srgbClr val="EFECFF"/>
            </a:solidFill>
            <a:ln w="38100" cap="rnd">
              <a:solidFill>
                <a:srgbClr val="847CF4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40030" cy="661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1647" y="4038785"/>
            <a:ext cx="11638768" cy="1860906"/>
            <a:chOff x="0" y="0"/>
            <a:chExt cx="2940030" cy="4700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0029" cy="470077"/>
            </a:xfrm>
            <a:custGeom>
              <a:avLst/>
              <a:gdLst/>
              <a:ahLst/>
              <a:cxnLst/>
              <a:rect r="r" b="b" t="t" l="l"/>
              <a:pathLst>
                <a:path h="470077" w="2940029">
                  <a:moveTo>
                    <a:pt x="33924" y="0"/>
                  </a:moveTo>
                  <a:lnTo>
                    <a:pt x="2906105" y="0"/>
                  </a:lnTo>
                  <a:cubicBezTo>
                    <a:pt x="2924841" y="0"/>
                    <a:pt x="2940029" y="15188"/>
                    <a:pt x="2940029" y="33924"/>
                  </a:cubicBezTo>
                  <a:lnTo>
                    <a:pt x="2940029" y="436153"/>
                  </a:lnTo>
                  <a:cubicBezTo>
                    <a:pt x="2940029" y="454889"/>
                    <a:pt x="2924841" y="470077"/>
                    <a:pt x="2906105" y="470077"/>
                  </a:cubicBezTo>
                  <a:lnTo>
                    <a:pt x="33924" y="470077"/>
                  </a:lnTo>
                  <a:cubicBezTo>
                    <a:pt x="15188" y="470077"/>
                    <a:pt x="0" y="454889"/>
                    <a:pt x="0" y="436153"/>
                  </a:cubicBezTo>
                  <a:lnTo>
                    <a:pt x="0" y="33924"/>
                  </a:lnTo>
                  <a:cubicBezTo>
                    <a:pt x="0" y="15188"/>
                    <a:pt x="15188" y="0"/>
                    <a:pt x="33924" y="0"/>
                  </a:cubicBezTo>
                  <a:close/>
                </a:path>
              </a:pathLst>
            </a:custGeom>
            <a:solidFill>
              <a:srgbClr val="FFF0FA"/>
            </a:solidFill>
            <a:ln w="38100" cap="rnd">
              <a:solidFill>
                <a:srgbClr val="FDDEF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940030" cy="51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54917" y="6338455"/>
            <a:ext cx="11638768" cy="2042268"/>
            <a:chOff x="0" y="0"/>
            <a:chExt cx="2940030" cy="515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0029" cy="515890"/>
            </a:xfrm>
            <a:custGeom>
              <a:avLst/>
              <a:gdLst/>
              <a:ahLst/>
              <a:cxnLst/>
              <a:rect r="r" b="b" t="t" l="l"/>
              <a:pathLst>
                <a:path h="515890" w="2940029">
                  <a:moveTo>
                    <a:pt x="33924" y="0"/>
                  </a:moveTo>
                  <a:lnTo>
                    <a:pt x="2906105" y="0"/>
                  </a:lnTo>
                  <a:cubicBezTo>
                    <a:pt x="2924841" y="0"/>
                    <a:pt x="2940029" y="15188"/>
                    <a:pt x="2940029" y="33924"/>
                  </a:cubicBezTo>
                  <a:lnTo>
                    <a:pt x="2940029" y="481966"/>
                  </a:lnTo>
                  <a:cubicBezTo>
                    <a:pt x="2940029" y="500702"/>
                    <a:pt x="2924841" y="515890"/>
                    <a:pt x="2906105" y="515890"/>
                  </a:cubicBezTo>
                  <a:lnTo>
                    <a:pt x="33924" y="515890"/>
                  </a:lnTo>
                  <a:cubicBezTo>
                    <a:pt x="15188" y="515890"/>
                    <a:pt x="0" y="500702"/>
                    <a:pt x="0" y="481966"/>
                  </a:cubicBezTo>
                  <a:lnTo>
                    <a:pt x="0" y="33924"/>
                  </a:lnTo>
                  <a:cubicBezTo>
                    <a:pt x="0" y="15188"/>
                    <a:pt x="15188" y="0"/>
                    <a:pt x="33924" y="0"/>
                  </a:cubicBezTo>
                  <a:close/>
                </a:path>
              </a:pathLst>
            </a:custGeom>
            <a:solidFill>
              <a:srgbClr val="EFECFF"/>
            </a:solidFill>
            <a:ln w="38100" cap="rnd">
              <a:solidFill>
                <a:srgbClr val="847CF4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940030" cy="56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73333" y="1603494"/>
            <a:ext cx="11120351" cy="3151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3009" b="true">
                <a:solidFill>
                  <a:srgbClr val="3D36A8"/>
                </a:solidFill>
                <a:latin typeface="Muli Bold"/>
                <a:ea typeface="Muli Bold"/>
                <a:cs typeface="Muli Bold"/>
                <a:sym typeface="Muli Bold"/>
              </a:rPr>
              <a:t>🔌 Analogue vs Digital</a:t>
            </a:r>
          </a:p>
          <a:p>
            <a:pPr algn="l">
              <a:lnSpc>
                <a:spcPts val="4213"/>
              </a:lnSpc>
            </a:pPr>
            <a:r>
              <a:rPr lang="en-US" sz="3009">
                <a:solidFill>
                  <a:srgbClr val="3D36A8"/>
                </a:solidFill>
                <a:latin typeface="Muli"/>
                <a:ea typeface="Muli"/>
                <a:cs typeface="Muli"/>
                <a:sym typeface="Muli"/>
              </a:rPr>
              <a:t>Analogue: values can be anything (like a dial)</a:t>
            </a:r>
          </a:p>
          <a:p>
            <a:pPr algn="l">
              <a:lnSpc>
                <a:spcPts val="4213"/>
              </a:lnSpc>
            </a:pPr>
            <a:r>
              <a:rPr lang="en-US" sz="3009">
                <a:solidFill>
                  <a:srgbClr val="3D36A8"/>
                </a:solidFill>
                <a:latin typeface="Muli"/>
                <a:ea typeface="Muli"/>
                <a:cs typeface="Muli"/>
                <a:sym typeface="Muli"/>
              </a:rPr>
              <a:t>Digital: only 0 or 1 — much easier for machines!</a:t>
            </a:r>
          </a:p>
          <a:p>
            <a:pPr algn="l">
              <a:lnSpc>
                <a:spcPts val="4213"/>
              </a:lnSpc>
            </a:pPr>
          </a:p>
          <a:p>
            <a:pPr algn="l">
              <a:lnSpc>
                <a:spcPts val="4213"/>
              </a:lnSpc>
            </a:pPr>
          </a:p>
          <a:p>
            <a:pPr algn="l">
              <a:lnSpc>
                <a:spcPts val="421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97313" y="4216555"/>
            <a:ext cx="9938809" cy="250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2885" b="true">
                <a:solidFill>
                  <a:srgbClr val="BB5F9A"/>
                </a:solidFill>
                <a:latin typeface="Muli Bold"/>
                <a:ea typeface="Muli Bold"/>
                <a:cs typeface="Muli Bold"/>
                <a:sym typeface="Muli Bold"/>
              </a:rPr>
              <a:t>💡 Why Binary?</a:t>
            </a:r>
          </a:p>
          <a:p>
            <a:pPr algn="l">
              <a:lnSpc>
                <a:spcPts val="4039"/>
              </a:lnSpc>
            </a:pPr>
            <a:r>
              <a:rPr lang="en-US" sz="2885">
                <a:solidFill>
                  <a:srgbClr val="BB5F9A"/>
                </a:solidFill>
                <a:latin typeface="Muli"/>
                <a:ea typeface="Muli"/>
                <a:cs typeface="Muli"/>
                <a:sym typeface="Muli"/>
              </a:rPr>
              <a:t>Switches are simple — just ON or OFF. Billions of tiny switches make a computer.</a:t>
            </a:r>
          </a:p>
          <a:p>
            <a:pPr algn="l">
              <a:lnSpc>
                <a:spcPts val="4039"/>
              </a:lnSpc>
            </a:pPr>
          </a:p>
          <a:p>
            <a:pPr algn="l">
              <a:lnSpc>
                <a:spcPts val="403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4657999" y="6741151"/>
            <a:ext cx="4149493" cy="4742277"/>
            <a:chOff x="0" y="0"/>
            <a:chExt cx="7112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1200" cy="812800"/>
            </a:xfrm>
            <a:custGeom>
              <a:avLst/>
              <a:gdLst/>
              <a:ahLst/>
              <a:cxnLst/>
              <a:rect r="r" b="b" t="t" l="l"/>
              <a:pathLst>
                <a:path h="812800" w="711200">
                  <a:moveTo>
                    <a:pt x="355600" y="0"/>
                  </a:moveTo>
                  <a:lnTo>
                    <a:pt x="499725" y="159329"/>
                  </a:lnTo>
                  <a:lnTo>
                    <a:pt x="711200" y="203200"/>
                  </a:lnTo>
                  <a:lnTo>
                    <a:pt x="643849" y="406400"/>
                  </a:lnTo>
                  <a:lnTo>
                    <a:pt x="711200" y="609600"/>
                  </a:lnTo>
                  <a:lnTo>
                    <a:pt x="499725" y="653471"/>
                  </a:lnTo>
                  <a:lnTo>
                    <a:pt x="355600" y="812800"/>
                  </a:lnTo>
                  <a:lnTo>
                    <a:pt x="211475" y="653471"/>
                  </a:lnTo>
                  <a:lnTo>
                    <a:pt x="0" y="609600"/>
                  </a:lnTo>
                  <a:lnTo>
                    <a:pt x="67351" y="406400"/>
                  </a:lnTo>
                  <a:lnTo>
                    <a:pt x="0" y="203200"/>
                  </a:lnTo>
                  <a:lnTo>
                    <a:pt x="211475" y="159329"/>
                  </a:lnTo>
                  <a:lnTo>
                    <a:pt x="355600" y="0"/>
                  </a:lnTo>
                  <a:close/>
                </a:path>
              </a:pathLst>
            </a:custGeom>
            <a:solidFill>
              <a:srgbClr val="3D36A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8900" y="117475"/>
              <a:ext cx="5334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16250" y="-853304"/>
            <a:ext cx="3086100" cy="308610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D36A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14350" y="8818873"/>
            <a:ext cx="3086100" cy="1516897"/>
            <a:chOff x="0" y="0"/>
            <a:chExt cx="749300" cy="368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9300" cy="368300"/>
            </a:xfrm>
            <a:custGeom>
              <a:avLst/>
              <a:gdLst/>
              <a:ahLst/>
              <a:cxnLst/>
              <a:rect r="r" b="b" t="t" l="l"/>
              <a:pathLst>
                <a:path h="368300" w="749300">
                  <a:moveTo>
                    <a:pt x="302595" y="0"/>
                  </a:moveTo>
                  <a:cubicBezTo>
                    <a:pt x="374793" y="0"/>
                    <a:pt x="438128" y="31965"/>
                    <a:pt x="473774" y="80008"/>
                  </a:cubicBezTo>
                  <a:cubicBezTo>
                    <a:pt x="505094" y="62401"/>
                    <a:pt x="543878" y="57997"/>
                    <a:pt x="580502" y="71168"/>
                  </a:cubicBezTo>
                  <a:cubicBezTo>
                    <a:pt x="621377" y="85869"/>
                    <a:pt x="649916" y="119006"/>
                    <a:pt x="659931" y="157438"/>
                  </a:cubicBezTo>
                  <a:cubicBezTo>
                    <a:pt x="710698" y="166149"/>
                    <a:pt x="749297" y="209658"/>
                    <a:pt x="749300" y="262058"/>
                  </a:cubicBezTo>
                  <a:cubicBezTo>
                    <a:pt x="749300" y="320733"/>
                    <a:pt x="700914" y="368299"/>
                    <a:pt x="641228" y="368300"/>
                  </a:cubicBezTo>
                  <a:lnTo>
                    <a:pt x="108072" y="368300"/>
                  </a:lnTo>
                  <a:cubicBezTo>
                    <a:pt x="44877" y="368299"/>
                    <a:pt x="0" y="326606"/>
                    <a:pt x="0" y="262058"/>
                  </a:cubicBezTo>
                  <a:cubicBezTo>
                    <a:pt x="3" y="205539"/>
                    <a:pt x="44902" y="159334"/>
                    <a:pt x="101548" y="156017"/>
                  </a:cubicBezTo>
                  <a:cubicBezTo>
                    <a:pt x="109980" y="68673"/>
                    <a:pt x="196766" y="3"/>
                    <a:pt x="302595" y="0"/>
                  </a:cubicBezTo>
                  <a:close/>
                </a:path>
              </a:pathLst>
            </a:custGeom>
            <a:solidFill>
              <a:srgbClr val="3D36A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34925"/>
              <a:ext cx="469900" cy="333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543050" y="-1543050"/>
            <a:ext cx="3086100" cy="3086100"/>
            <a:chOff x="0" y="0"/>
            <a:chExt cx="736600" cy="736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90025" y="638"/>
                  </a:moveTo>
                  <a:lnTo>
                    <a:pt x="417426" y="142907"/>
                  </a:lnTo>
                  <a:cubicBezTo>
                    <a:pt x="424520" y="144441"/>
                    <a:pt x="431535" y="146323"/>
                    <a:pt x="438451" y="148540"/>
                  </a:cubicBezTo>
                  <a:lnTo>
                    <a:pt x="533311" y="39039"/>
                  </a:lnTo>
                  <a:cubicBezTo>
                    <a:pt x="546273" y="45537"/>
                    <a:pt x="558838" y="52788"/>
                    <a:pt x="570944" y="60764"/>
                  </a:cubicBezTo>
                  <a:lnTo>
                    <a:pt x="523545" y="197664"/>
                  </a:lnTo>
                  <a:cubicBezTo>
                    <a:pt x="528914" y="202545"/>
                    <a:pt x="534052" y="207689"/>
                    <a:pt x="538936" y="213058"/>
                  </a:cubicBezTo>
                  <a:lnTo>
                    <a:pt x="675838" y="165649"/>
                  </a:lnTo>
                  <a:cubicBezTo>
                    <a:pt x="683815" y="177767"/>
                    <a:pt x="691071" y="190330"/>
                    <a:pt x="697565" y="203284"/>
                  </a:cubicBezTo>
                  <a:lnTo>
                    <a:pt x="588065" y="298144"/>
                  </a:lnTo>
                  <a:cubicBezTo>
                    <a:pt x="590273" y="305059"/>
                    <a:pt x="592153" y="312073"/>
                    <a:pt x="593698" y="319171"/>
                  </a:cubicBezTo>
                  <a:lnTo>
                    <a:pt x="735959" y="346570"/>
                  </a:lnTo>
                  <a:cubicBezTo>
                    <a:pt x="736813" y="361044"/>
                    <a:pt x="736813" y="375559"/>
                    <a:pt x="735959" y="390020"/>
                  </a:cubicBezTo>
                  <a:lnTo>
                    <a:pt x="593698" y="417432"/>
                  </a:lnTo>
                  <a:cubicBezTo>
                    <a:pt x="592153" y="424517"/>
                    <a:pt x="590273" y="431531"/>
                    <a:pt x="588065" y="438446"/>
                  </a:cubicBezTo>
                  <a:lnTo>
                    <a:pt x="697565" y="533306"/>
                  </a:lnTo>
                  <a:cubicBezTo>
                    <a:pt x="691071" y="546274"/>
                    <a:pt x="683815" y="558837"/>
                    <a:pt x="675838" y="570940"/>
                  </a:cubicBezTo>
                  <a:lnTo>
                    <a:pt x="538936" y="523545"/>
                  </a:lnTo>
                  <a:cubicBezTo>
                    <a:pt x="534052" y="528913"/>
                    <a:pt x="528914" y="534045"/>
                    <a:pt x="523545" y="538940"/>
                  </a:cubicBezTo>
                  <a:lnTo>
                    <a:pt x="570944" y="675839"/>
                  </a:lnTo>
                  <a:cubicBezTo>
                    <a:pt x="558838" y="683816"/>
                    <a:pt x="546273" y="691067"/>
                    <a:pt x="533311" y="697564"/>
                  </a:cubicBezTo>
                  <a:lnTo>
                    <a:pt x="438451" y="588063"/>
                  </a:lnTo>
                  <a:cubicBezTo>
                    <a:pt x="431535" y="590267"/>
                    <a:pt x="424520" y="592149"/>
                    <a:pt x="417426" y="593697"/>
                  </a:cubicBezTo>
                  <a:lnTo>
                    <a:pt x="390025" y="735951"/>
                  </a:lnTo>
                  <a:cubicBezTo>
                    <a:pt x="375553" y="736816"/>
                    <a:pt x="361043" y="736816"/>
                    <a:pt x="346570" y="735951"/>
                  </a:cubicBezTo>
                  <a:lnTo>
                    <a:pt x="319168" y="593697"/>
                  </a:lnTo>
                  <a:cubicBezTo>
                    <a:pt x="312076" y="592149"/>
                    <a:pt x="305059" y="590267"/>
                    <a:pt x="298144" y="588063"/>
                  </a:cubicBezTo>
                  <a:lnTo>
                    <a:pt x="203286" y="697564"/>
                  </a:lnTo>
                  <a:cubicBezTo>
                    <a:pt x="190318" y="691067"/>
                    <a:pt x="177754" y="683816"/>
                    <a:pt x="165651" y="675839"/>
                  </a:cubicBezTo>
                  <a:lnTo>
                    <a:pt x="213046" y="538940"/>
                  </a:lnTo>
                  <a:cubicBezTo>
                    <a:pt x="207678" y="534045"/>
                    <a:pt x="202547" y="528913"/>
                    <a:pt x="197653" y="523545"/>
                  </a:cubicBezTo>
                  <a:lnTo>
                    <a:pt x="60764" y="570940"/>
                  </a:lnTo>
                  <a:cubicBezTo>
                    <a:pt x="52774" y="558837"/>
                    <a:pt x="45524" y="546274"/>
                    <a:pt x="39026" y="533306"/>
                  </a:cubicBezTo>
                  <a:lnTo>
                    <a:pt x="148528" y="438446"/>
                  </a:lnTo>
                  <a:cubicBezTo>
                    <a:pt x="146324" y="431531"/>
                    <a:pt x="144442" y="424517"/>
                    <a:pt x="142894" y="417432"/>
                  </a:cubicBezTo>
                  <a:lnTo>
                    <a:pt x="638" y="390020"/>
                  </a:lnTo>
                  <a:cubicBezTo>
                    <a:pt x="-213" y="375559"/>
                    <a:pt x="-213" y="361044"/>
                    <a:pt x="638" y="346570"/>
                  </a:cubicBezTo>
                  <a:lnTo>
                    <a:pt x="142894" y="319171"/>
                  </a:lnTo>
                  <a:cubicBezTo>
                    <a:pt x="144442" y="312073"/>
                    <a:pt x="146324" y="305059"/>
                    <a:pt x="148528" y="298144"/>
                  </a:cubicBezTo>
                  <a:lnTo>
                    <a:pt x="39026" y="203284"/>
                  </a:lnTo>
                  <a:cubicBezTo>
                    <a:pt x="45524" y="190330"/>
                    <a:pt x="52774" y="177767"/>
                    <a:pt x="60764" y="165649"/>
                  </a:cubicBezTo>
                  <a:lnTo>
                    <a:pt x="197653" y="213058"/>
                  </a:lnTo>
                  <a:cubicBezTo>
                    <a:pt x="202547" y="207689"/>
                    <a:pt x="207678" y="202545"/>
                    <a:pt x="213046" y="197664"/>
                  </a:cubicBezTo>
                  <a:lnTo>
                    <a:pt x="165651" y="60764"/>
                  </a:lnTo>
                  <a:cubicBezTo>
                    <a:pt x="177754" y="52788"/>
                    <a:pt x="190318" y="45537"/>
                    <a:pt x="203286" y="39039"/>
                  </a:cubicBezTo>
                  <a:lnTo>
                    <a:pt x="298144" y="148540"/>
                  </a:lnTo>
                  <a:cubicBezTo>
                    <a:pt x="305059" y="146323"/>
                    <a:pt x="312076" y="144441"/>
                    <a:pt x="319168" y="142907"/>
                  </a:cubicBezTo>
                  <a:lnTo>
                    <a:pt x="346570" y="638"/>
                  </a:lnTo>
                  <a:cubicBezTo>
                    <a:pt x="361043" y="-213"/>
                    <a:pt x="375553" y="-213"/>
                    <a:pt x="390025" y="638"/>
                  </a:cubicBezTo>
                  <a:close/>
                  <a:moveTo>
                    <a:pt x="368297" y="241449"/>
                  </a:moveTo>
                  <a:cubicBezTo>
                    <a:pt x="298282" y="241449"/>
                    <a:pt x="241437" y="298284"/>
                    <a:pt x="241437" y="368295"/>
                  </a:cubicBezTo>
                  <a:cubicBezTo>
                    <a:pt x="241437" y="438321"/>
                    <a:pt x="298282" y="495155"/>
                    <a:pt x="368297" y="495155"/>
                  </a:cubicBezTo>
                  <a:cubicBezTo>
                    <a:pt x="438311" y="495155"/>
                    <a:pt x="495157" y="438321"/>
                    <a:pt x="495157" y="368295"/>
                  </a:cubicBezTo>
                  <a:cubicBezTo>
                    <a:pt x="495157" y="298284"/>
                    <a:pt x="438311" y="241449"/>
                    <a:pt x="368297" y="241449"/>
                  </a:cubicBezTo>
                  <a:close/>
                </a:path>
              </a:pathLst>
            </a:custGeom>
            <a:solidFill>
              <a:srgbClr val="3D36A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203200" y="155575"/>
              <a:ext cx="3302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73333" y="6526805"/>
            <a:ext cx="10291694" cy="258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true">
                <a:solidFill>
                  <a:srgbClr val="3D36A8"/>
                </a:solidFill>
                <a:latin typeface="Muli Bold"/>
                <a:ea typeface="Muli Bold"/>
                <a:cs typeface="Muli Bold"/>
                <a:sym typeface="Muli Bold"/>
              </a:rPr>
              <a:t>📦 Fun Fact</a:t>
            </a:r>
          </a:p>
          <a:p>
            <a:pPr algn="l">
              <a:lnSpc>
                <a:spcPts val="4182"/>
              </a:lnSpc>
            </a:pPr>
            <a:r>
              <a:rPr lang="en-US" sz="2987">
                <a:solidFill>
                  <a:srgbClr val="3D36A8"/>
                </a:solidFill>
                <a:latin typeface="Muli"/>
                <a:ea typeface="Muli"/>
                <a:cs typeface="Muli"/>
                <a:sym typeface="Muli"/>
              </a:rPr>
              <a:t>The word 'bit' comes from Binary digIT — the smallest piece of digital data.</a:t>
            </a:r>
          </a:p>
          <a:p>
            <a:pPr algn="l">
              <a:lnSpc>
                <a:spcPts val="4182"/>
              </a:lnSpc>
            </a:pPr>
          </a:p>
          <a:p>
            <a:pPr algn="l">
              <a:lnSpc>
                <a:spcPts val="418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0591" y="5900263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2584" y="286209"/>
            <a:ext cx="3565416" cy="5041077"/>
          </a:xfrm>
          <a:custGeom>
            <a:avLst/>
            <a:gdLst/>
            <a:ahLst/>
            <a:cxnLst/>
            <a:rect r="r" b="b" t="t" l="l"/>
            <a:pathLst>
              <a:path h="5041077" w="3565416">
                <a:moveTo>
                  <a:pt x="0" y="0"/>
                </a:moveTo>
                <a:lnTo>
                  <a:pt x="3565416" y="0"/>
                </a:lnTo>
                <a:lnTo>
                  <a:pt x="3565416" y="5041077"/>
                </a:lnTo>
                <a:lnTo>
                  <a:pt x="0" y="5041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9412" y="2806747"/>
            <a:ext cx="4163268" cy="6563274"/>
            <a:chOff x="0" y="0"/>
            <a:chExt cx="1096499" cy="1728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11003375" y="2293071"/>
            <a:ext cx="6854480" cy="156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3"/>
              </a:lnSpc>
            </a:pPr>
            <a:r>
              <a:rPr lang="en-US" sz="10926">
                <a:solidFill>
                  <a:srgbClr val="D0A933"/>
                </a:solidFill>
                <a:latin typeface="ITC Benguiat"/>
                <a:ea typeface="ITC Benguiat"/>
                <a:cs typeface="ITC Benguiat"/>
                <a:sym typeface="ITC Benguiat"/>
              </a:rPr>
              <a:t>LOGIC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72921" y="2806747"/>
            <a:ext cx="4163268" cy="6563274"/>
            <a:chOff x="0" y="0"/>
            <a:chExt cx="1096499" cy="17285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91755" y="2806747"/>
            <a:ext cx="4163268" cy="6563274"/>
            <a:chOff x="0" y="0"/>
            <a:chExt cx="1096499" cy="17285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8731" y="3007673"/>
            <a:ext cx="3820896" cy="65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1"/>
              </a:lnSpc>
            </a:pPr>
            <a:r>
              <a:rPr lang="en-US" sz="385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Gate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3724" y="3007673"/>
            <a:ext cx="2649251" cy="65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1"/>
              </a:lnSpc>
            </a:pPr>
            <a:r>
              <a:rPr lang="en-US" sz="38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 Gate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36123" y="3002331"/>
            <a:ext cx="2261544" cy="65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Gate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1416" y="104775"/>
            <a:ext cx="7413607" cy="303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6"/>
              </a:lnSpc>
            </a:pPr>
            <a:r>
              <a:rPr lang="en-US" sz="11817">
                <a:solidFill>
                  <a:srgbClr val="D0A933"/>
                </a:solidFill>
                <a:latin typeface="ITC Benguiat"/>
                <a:ea typeface="ITC Benguiat"/>
                <a:cs typeface="ITC Benguiat"/>
                <a:sym typeface="ITC Benguiat"/>
              </a:rPr>
              <a:t>LOGIC GATES..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8731" y="4369995"/>
            <a:ext cx="4148454" cy="35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4"/>
              </a:lnSpc>
            </a:pPr>
            <a:r>
              <a:rPr lang="en-US" sz="2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•Output = 1 only when BOTH inputs are 1</a:t>
            </a:r>
          </a:p>
          <a:p>
            <a:pPr algn="ctr">
              <a:lnSpc>
                <a:spcPts val="3574"/>
              </a:lnSpc>
            </a:pPr>
            <a:r>
              <a:rPr lang="en-US" sz="2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AND 0 = 0</a:t>
            </a:r>
          </a:p>
          <a:p>
            <a:pPr algn="ctr">
              <a:lnSpc>
                <a:spcPts val="3574"/>
              </a:lnSpc>
            </a:pPr>
            <a:r>
              <a:rPr lang="en-US" sz="2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AND 1 = 0</a:t>
            </a:r>
          </a:p>
          <a:p>
            <a:pPr algn="ctr">
              <a:lnSpc>
                <a:spcPts val="3574"/>
              </a:lnSpc>
            </a:pPr>
            <a:r>
              <a:rPr lang="en-US" sz="2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•1 AND 1 = 1 ✅</a:t>
            </a:r>
          </a:p>
          <a:p>
            <a:pPr algn="ctr">
              <a:lnSpc>
                <a:spcPts val="3574"/>
              </a:lnSpc>
            </a:pPr>
            <a:r>
              <a:rPr lang="en-US" sz="2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•Think: 'both switches must be ON'</a:t>
            </a:r>
          </a:p>
          <a:p>
            <a:pPr algn="ctr">
              <a:lnSpc>
                <a:spcPts val="357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935536" y="4387583"/>
            <a:ext cx="3705626" cy="335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•Output = 1 when AT LEAST ONE input is 1</a:t>
            </a:r>
          </a:p>
          <a:p>
            <a:pPr algn="ctr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OR 0 = 0</a:t>
            </a:r>
          </a:p>
          <a:p>
            <a:pPr algn="ctr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OR 1 = 1 ✅</a:t>
            </a:r>
          </a:p>
          <a:p>
            <a:pPr algn="ctr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•1 OR 1 = 1 ✅</a:t>
            </a:r>
          </a:p>
          <a:p>
            <a:pPr algn="ctr">
              <a:lnSpc>
                <a:spcPts val="3338"/>
              </a:lnSpc>
            </a:pPr>
            <a:r>
              <a:rPr lang="en-US" sz="23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•Think: 'either switch is enough'</a:t>
            </a:r>
          </a:p>
          <a:p>
            <a:pPr algn="ctr">
              <a:lnSpc>
                <a:spcPts val="333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904050" y="4360470"/>
            <a:ext cx="2701009" cy="398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•Flips the input — called an Inverter</a:t>
            </a:r>
          </a:p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•NOT 0 = 1</a:t>
            </a:r>
          </a:p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•NOT 1 = 0</a:t>
            </a:r>
          </a:p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•Just one input, one output</a:t>
            </a:r>
          </a:p>
          <a:p>
            <a:pPr algn="ctr">
              <a:lnSpc>
                <a:spcPts val="3520"/>
              </a:lnSpc>
            </a:pPr>
            <a:r>
              <a:rPr lang="en-US" sz="25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•Think: 'opposite day'</a:t>
            </a:r>
          </a:p>
          <a:p>
            <a:pPr algn="ctr">
              <a:lnSpc>
                <a:spcPts val="35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80009" y="-1519728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50591" y="5900263"/>
            <a:ext cx="6217418" cy="4114800"/>
          </a:xfrm>
          <a:custGeom>
            <a:avLst/>
            <a:gdLst/>
            <a:ahLst/>
            <a:cxnLst/>
            <a:rect r="r" b="b" t="t" l="l"/>
            <a:pathLst>
              <a:path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2584" y="286209"/>
            <a:ext cx="3565416" cy="5041077"/>
          </a:xfrm>
          <a:custGeom>
            <a:avLst/>
            <a:gdLst/>
            <a:ahLst/>
            <a:cxnLst/>
            <a:rect r="r" b="b" t="t" l="l"/>
            <a:pathLst>
              <a:path h="5041077" w="3565416">
                <a:moveTo>
                  <a:pt x="0" y="0"/>
                </a:moveTo>
                <a:lnTo>
                  <a:pt x="3565416" y="0"/>
                </a:lnTo>
                <a:lnTo>
                  <a:pt x="3565416" y="5041077"/>
                </a:lnTo>
                <a:lnTo>
                  <a:pt x="0" y="50410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9412" y="2806747"/>
            <a:ext cx="4163268" cy="6563274"/>
            <a:chOff x="0" y="0"/>
            <a:chExt cx="1096499" cy="1728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11003375" y="2293071"/>
            <a:ext cx="6854480" cy="156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3"/>
              </a:lnSpc>
            </a:pPr>
            <a:r>
              <a:rPr lang="en-US" sz="10926">
                <a:solidFill>
                  <a:srgbClr val="D0A933"/>
                </a:solidFill>
                <a:latin typeface="ITC Benguiat"/>
                <a:ea typeface="ITC Benguiat"/>
                <a:cs typeface="ITC Benguiat"/>
                <a:sym typeface="ITC Benguiat"/>
              </a:rPr>
              <a:t>LOGIC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72921" y="2806747"/>
            <a:ext cx="4163268" cy="6563274"/>
            <a:chOff x="0" y="0"/>
            <a:chExt cx="1096499" cy="17285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91755" y="2806747"/>
            <a:ext cx="4163268" cy="6563274"/>
            <a:chOff x="0" y="0"/>
            <a:chExt cx="1096499" cy="17285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6499" cy="1728599"/>
            </a:xfrm>
            <a:custGeom>
              <a:avLst/>
              <a:gdLst/>
              <a:ahLst/>
              <a:cxnLst/>
              <a:rect r="r" b="b" t="t" l="l"/>
              <a:pathLst>
                <a:path h="1728599" w="1096499">
                  <a:moveTo>
                    <a:pt x="94838" y="0"/>
                  </a:moveTo>
                  <a:lnTo>
                    <a:pt x="1001660" y="0"/>
                  </a:lnTo>
                  <a:cubicBezTo>
                    <a:pt x="1054038" y="0"/>
                    <a:pt x="1096499" y="42461"/>
                    <a:pt x="1096499" y="94838"/>
                  </a:cubicBezTo>
                  <a:lnTo>
                    <a:pt x="1096499" y="1633761"/>
                  </a:lnTo>
                  <a:cubicBezTo>
                    <a:pt x="1096499" y="1686138"/>
                    <a:pt x="1054038" y="1728599"/>
                    <a:pt x="1001660" y="1728599"/>
                  </a:cubicBezTo>
                  <a:lnTo>
                    <a:pt x="94838" y="1728599"/>
                  </a:lnTo>
                  <a:cubicBezTo>
                    <a:pt x="42461" y="1728599"/>
                    <a:pt x="0" y="1686138"/>
                    <a:pt x="0" y="1633761"/>
                  </a:cubicBezTo>
                  <a:lnTo>
                    <a:pt x="0" y="94838"/>
                  </a:lnTo>
                  <a:cubicBezTo>
                    <a:pt x="0" y="42461"/>
                    <a:pt x="42461" y="0"/>
                    <a:pt x="94838" y="0"/>
                  </a:cubicBezTo>
                  <a:close/>
                </a:path>
              </a:pathLst>
            </a:custGeom>
            <a:solidFill>
              <a:srgbClr val="9ECB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96499" cy="1776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58731" y="3007673"/>
            <a:ext cx="3820896" cy="653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1"/>
              </a:lnSpc>
            </a:pPr>
            <a:r>
              <a:rPr lang="en-US" sz="385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NAND Gate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63724" y="3007673"/>
            <a:ext cx="2649251" cy="650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1"/>
              </a:lnSpc>
            </a:pPr>
            <a:r>
              <a:rPr lang="en-US" sz="383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 Gate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52172" y="3002331"/>
            <a:ext cx="2229445" cy="65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XOR Gate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41416" y="104775"/>
            <a:ext cx="7413607" cy="303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6"/>
              </a:lnSpc>
            </a:pPr>
            <a:r>
              <a:rPr lang="en-US" sz="11817">
                <a:solidFill>
                  <a:srgbClr val="D0A933"/>
                </a:solidFill>
                <a:latin typeface="ITC Benguiat"/>
                <a:ea typeface="ITC Benguiat"/>
                <a:cs typeface="ITC Benguiat"/>
                <a:sym typeface="ITC Benguiat"/>
              </a:rPr>
              <a:t>LOGIC GATES..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8731" y="4379520"/>
            <a:ext cx="3820896" cy="288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2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•= NOT + AND</a:t>
            </a:r>
          </a:p>
          <a:p>
            <a:pPr algn="ctr">
              <a:lnSpc>
                <a:spcPts val="3292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•Opposite of AND</a:t>
            </a:r>
          </a:p>
          <a:p>
            <a:pPr algn="ctr">
              <a:lnSpc>
                <a:spcPts val="3292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NAND 0 = 1</a:t>
            </a:r>
          </a:p>
          <a:p>
            <a:pPr algn="ctr">
              <a:lnSpc>
                <a:spcPts val="3292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•1 NAND 1 = 0</a:t>
            </a:r>
          </a:p>
          <a:p>
            <a:pPr algn="ctr">
              <a:lnSpc>
                <a:spcPts val="3292"/>
              </a:lnSpc>
            </a:pPr>
            <a:r>
              <a:rPr lang="en-US" sz="23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in most memory chips!</a:t>
            </a:r>
          </a:p>
          <a:p>
            <a:pPr algn="ctr">
              <a:lnSpc>
                <a:spcPts val="329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248220" y="4226500"/>
            <a:ext cx="3305339" cy="318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•= NOT + OR</a:t>
            </a:r>
          </a:p>
          <a:p>
            <a:pPr algn="ctr">
              <a:lnSpc>
                <a:spcPts val="3182"/>
              </a:lnSpc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•Output is 1 ONLY when both are 0</a:t>
            </a:r>
          </a:p>
          <a:p>
            <a:pPr algn="ctr">
              <a:lnSpc>
                <a:spcPts val="3182"/>
              </a:lnSpc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NOR 0 = 1 ✅</a:t>
            </a:r>
          </a:p>
          <a:p>
            <a:pPr algn="ctr">
              <a:lnSpc>
                <a:spcPts val="3182"/>
              </a:lnSpc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NOR 1 = 0</a:t>
            </a:r>
          </a:p>
          <a:p>
            <a:pPr algn="ctr">
              <a:lnSpc>
                <a:spcPts val="3182"/>
              </a:lnSpc>
            </a:pPr>
            <a:r>
              <a:rPr lang="en-US" sz="22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•Building block for storage</a:t>
            </a:r>
          </a:p>
          <a:p>
            <a:pPr algn="ctr">
              <a:lnSpc>
                <a:spcPts val="318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050709" y="4226500"/>
            <a:ext cx="2432372" cy="35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sz="22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•eXclusive OR</a:t>
            </a:r>
          </a:p>
          <a:p>
            <a:pPr algn="ctr">
              <a:lnSpc>
                <a:spcPts val="3170"/>
              </a:lnSpc>
            </a:pPr>
            <a:r>
              <a:rPr lang="en-US" sz="22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•Output = 1 when inputs are DIFFERENT</a:t>
            </a:r>
          </a:p>
          <a:p>
            <a:pPr algn="ctr">
              <a:lnSpc>
                <a:spcPts val="3170"/>
              </a:lnSpc>
            </a:pPr>
            <a:r>
              <a:rPr lang="en-US" sz="22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•0 XOR 1 = 1 ✅</a:t>
            </a:r>
          </a:p>
          <a:p>
            <a:pPr algn="ctr">
              <a:lnSpc>
                <a:spcPts val="3170"/>
              </a:lnSpc>
            </a:pPr>
            <a:r>
              <a:rPr lang="en-US" sz="22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•1 XOR 1 = 0</a:t>
            </a:r>
          </a:p>
          <a:p>
            <a:pPr algn="ctr">
              <a:lnSpc>
                <a:spcPts val="3170"/>
              </a:lnSpc>
            </a:pPr>
            <a:r>
              <a:rPr lang="en-US" sz="22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•Used in addition circuits!</a:t>
            </a:r>
          </a:p>
          <a:p>
            <a:pPr algn="ctr">
              <a:lnSpc>
                <a:spcPts val="317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75519" y="959965"/>
            <a:ext cx="283781" cy="189069"/>
          </a:xfrm>
          <a:custGeom>
            <a:avLst/>
            <a:gdLst/>
            <a:ahLst/>
            <a:cxnLst/>
            <a:rect r="r" b="b" t="t" l="l"/>
            <a:pathLst>
              <a:path h="189069" w="283781">
                <a:moveTo>
                  <a:pt x="0" y="0"/>
                </a:moveTo>
                <a:lnTo>
                  <a:pt x="283781" y="0"/>
                </a:lnTo>
                <a:lnTo>
                  <a:pt x="283781" y="189070"/>
                </a:lnTo>
                <a:lnTo>
                  <a:pt x="0" y="189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0" y="-246813"/>
            <a:ext cx="6231168" cy="5170593"/>
            <a:chOff x="0" y="0"/>
            <a:chExt cx="1641131" cy="1361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1131" cy="1361802"/>
            </a:xfrm>
            <a:custGeom>
              <a:avLst/>
              <a:gdLst/>
              <a:ahLst/>
              <a:cxnLst/>
              <a:rect r="r" b="b" t="t" l="l"/>
              <a:pathLst>
                <a:path h="1361802" w="1641131">
                  <a:moveTo>
                    <a:pt x="0" y="0"/>
                  </a:moveTo>
                  <a:lnTo>
                    <a:pt x="1641131" y="0"/>
                  </a:lnTo>
                  <a:lnTo>
                    <a:pt x="1641131" y="1361802"/>
                  </a:lnTo>
                  <a:lnTo>
                    <a:pt x="0" y="136180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41131" cy="1390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231168" y="-101938"/>
            <a:ext cx="2418237" cy="2440422"/>
          </a:xfrm>
          <a:custGeom>
            <a:avLst/>
            <a:gdLst/>
            <a:ahLst/>
            <a:cxnLst/>
            <a:rect r="r" b="b" t="t" l="l"/>
            <a:pathLst>
              <a:path h="2440422" w="2418237">
                <a:moveTo>
                  <a:pt x="0" y="0"/>
                </a:moveTo>
                <a:lnTo>
                  <a:pt x="2418237" y="0"/>
                </a:lnTo>
                <a:lnTo>
                  <a:pt x="2418237" y="2440422"/>
                </a:lnTo>
                <a:lnTo>
                  <a:pt x="0" y="2440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626647" y="5143500"/>
            <a:ext cx="6825256" cy="505689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9465144" y="8064224"/>
            <a:ext cx="3273782" cy="170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DCDBDB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0992" y="454993"/>
            <a:ext cx="8737686" cy="905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•Connect multiple gates to do useful work</a:t>
            </a:r>
          </a:p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•A Half Adder adds two bits (uses XOR + AND)</a:t>
            </a:r>
          </a:p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•A Full Adder adds bits with a carry — like column addition</a:t>
            </a:r>
          </a:p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•Chain many adders → a full calculator!</a:t>
            </a:r>
          </a:p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•Every arithmetic operation is built from gates</a:t>
            </a:r>
          </a:p>
          <a:p>
            <a:pPr algn="ctr">
              <a:lnSpc>
                <a:spcPts val="5541"/>
              </a:lnSpc>
            </a:pPr>
            <a:r>
              <a:rPr lang="en-US" sz="39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•This is what lives inside your CPU right now</a:t>
            </a:r>
          </a:p>
          <a:p>
            <a:pPr algn="ctr">
              <a:lnSpc>
                <a:spcPts val="554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4399" y="940768"/>
            <a:ext cx="7769751" cy="320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4"/>
              </a:lnSpc>
            </a:pPr>
            <a:r>
              <a:rPr lang="en-US" sz="1423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LOGIC</a:t>
            </a:r>
          </a:p>
          <a:p>
            <a:pPr algn="l">
              <a:lnSpc>
                <a:spcPts val="11384"/>
              </a:lnSpc>
            </a:pPr>
            <a:r>
              <a:rPr lang="en-US" b="true" sz="1423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CIRCUIT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6647" y="5343525"/>
            <a:ext cx="9351922" cy="92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4550" spc="-204">
                <a:solidFill>
                  <a:srgbClr val="FFDE59"/>
                </a:solidFill>
                <a:latin typeface="Oswald"/>
                <a:ea typeface="Oswald"/>
                <a:cs typeface="Oswald"/>
                <a:sym typeface="Oswald"/>
              </a:rPr>
              <a:t>**LOGIC GATES INSIDE A CIRCUIT </a:t>
            </a:r>
          </a:p>
          <a:p>
            <a:pPr algn="l">
              <a:lnSpc>
                <a:spcPts val="3458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t="0" r="-6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24377" y="1028700"/>
            <a:ext cx="7398734" cy="8229600"/>
          </a:xfrm>
          <a:custGeom>
            <a:avLst/>
            <a:gdLst/>
            <a:ahLst/>
            <a:cxnLst/>
            <a:rect r="r" b="b" t="t" l="l"/>
            <a:pathLst>
              <a:path h="8229600" w="7398734">
                <a:moveTo>
                  <a:pt x="0" y="0"/>
                </a:moveTo>
                <a:lnTo>
                  <a:pt x="7398734" y="0"/>
                </a:lnTo>
                <a:lnTo>
                  <a:pt x="739873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133" t="-4158" r="-2511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7905" y="1174763"/>
            <a:ext cx="8106472" cy="673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2"/>
              </a:lnSpc>
              <a:spcBef>
                <a:spcPct val="0"/>
              </a:spcBef>
            </a:pPr>
            <a:r>
              <a:rPr lang="en-US" b="true" sz="11593" spc="-579">
                <a:solidFill>
                  <a:srgbClr val="111827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HOW COMPUTER STORES DATA?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24377" y="-880916"/>
            <a:ext cx="3574966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*Computer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08098" y="1758779"/>
            <a:ext cx="460797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775777" y="4107588"/>
            <a:ext cx="3479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10722" y="4107588"/>
            <a:ext cx="460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71519" y="3078626"/>
            <a:ext cx="3479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98503" y="5494418"/>
            <a:ext cx="460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47301" y="5494418"/>
            <a:ext cx="4607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68895" y="3711665"/>
            <a:ext cx="3479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911334" y="2286781"/>
            <a:ext cx="3479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118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3481" y="1028700"/>
            <a:ext cx="4592620" cy="1164004"/>
            <a:chOff x="0" y="0"/>
            <a:chExt cx="736857" cy="1867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6857" cy="186757"/>
            </a:xfrm>
            <a:custGeom>
              <a:avLst/>
              <a:gdLst/>
              <a:ahLst/>
              <a:cxnLst/>
              <a:rect r="r" b="b" t="t" l="l"/>
              <a:pathLst>
                <a:path h="186757" w="736857">
                  <a:moveTo>
                    <a:pt x="57315" y="0"/>
                  </a:moveTo>
                  <a:lnTo>
                    <a:pt x="679543" y="0"/>
                  </a:lnTo>
                  <a:cubicBezTo>
                    <a:pt x="694743" y="0"/>
                    <a:pt x="709322" y="6039"/>
                    <a:pt x="720070" y="16787"/>
                  </a:cubicBezTo>
                  <a:cubicBezTo>
                    <a:pt x="730819" y="27536"/>
                    <a:pt x="736857" y="42114"/>
                    <a:pt x="736857" y="57315"/>
                  </a:cubicBezTo>
                  <a:lnTo>
                    <a:pt x="736857" y="129442"/>
                  </a:lnTo>
                  <a:cubicBezTo>
                    <a:pt x="736857" y="144643"/>
                    <a:pt x="730819" y="159222"/>
                    <a:pt x="720070" y="169970"/>
                  </a:cubicBezTo>
                  <a:cubicBezTo>
                    <a:pt x="709322" y="180719"/>
                    <a:pt x="694743" y="186757"/>
                    <a:pt x="679543" y="186757"/>
                  </a:cubicBezTo>
                  <a:lnTo>
                    <a:pt x="57315" y="186757"/>
                  </a:lnTo>
                  <a:cubicBezTo>
                    <a:pt x="42114" y="186757"/>
                    <a:pt x="27536" y="180719"/>
                    <a:pt x="16787" y="169970"/>
                  </a:cubicBezTo>
                  <a:cubicBezTo>
                    <a:pt x="6039" y="159222"/>
                    <a:pt x="0" y="144643"/>
                    <a:pt x="0" y="129442"/>
                  </a:cubicBezTo>
                  <a:lnTo>
                    <a:pt x="0" y="57315"/>
                  </a:lnTo>
                  <a:cubicBezTo>
                    <a:pt x="0" y="42114"/>
                    <a:pt x="6039" y="27536"/>
                    <a:pt x="16787" y="16787"/>
                  </a:cubicBezTo>
                  <a:cubicBezTo>
                    <a:pt x="27536" y="6039"/>
                    <a:pt x="42114" y="0"/>
                    <a:pt x="57315" y="0"/>
                  </a:cubicBezTo>
                  <a:close/>
                </a:path>
              </a:pathLst>
            </a:custGeom>
            <a:solidFill>
              <a:srgbClr val="111827"/>
            </a:solidFill>
            <a:ln w="47625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736857" cy="186757"/>
            </a:xfrm>
            <a:prstGeom prst="rect">
              <a:avLst/>
            </a:prstGeom>
          </p:spPr>
          <p:txBody>
            <a:bodyPr anchor="ctr" rtlCol="false" tIns="158578" lIns="158578" bIns="158578" rIns="158578"/>
            <a:lstStyle/>
            <a:p>
              <a:pPr algn="ctr" marL="0" indent="0" lvl="0">
                <a:lnSpc>
                  <a:spcPts val="5159"/>
                </a:lnSpc>
                <a:spcBef>
                  <a:spcPct val="0"/>
                </a:spcBef>
              </a:pPr>
              <a:r>
                <a:rPr lang="en-US" b="true" sz="4299" spc="85">
                  <a:solidFill>
                    <a:srgbClr val="FFFFFF"/>
                  </a:solidFill>
                  <a:latin typeface="Roboto Mono Bold"/>
                  <a:ea typeface="Roboto Mono Bold"/>
                  <a:cs typeface="Roboto Mono Bold"/>
                  <a:sym typeface="Roboto Mono Bold"/>
                </a:rPr>
                <a:t>RAM AUR ROM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97241" y="2712615"/>
            <a:ext cx="10310732" cy="479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•RAM (Random Access Memory) — temporary, fast</a:t>
            </a:r>
          </a:p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•ROM — permanent, stores boot instructions</a:t>
            </a:r>
          </a:p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•Hard Drive / SSD — long-term file storage</a:t>
            </a:r>
          </a:p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•Registers — tiny, super-fast memory inside the CPU</a:t>
            </a:r>
          </a:p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•Cache — small memory that keeps recent data handy</a:t>
            </a:r>
          </a:p>
          <a:p>
            <a:pPr algn="l">
              <a:lnSpc>
                <a:spcPts val="4845"/>
              </a:lnSpc>
            </a:pPr>
            <a:r>
              <a:rPr lang="en-US" sz="3461" spc="-138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•The CPU only works with data in RAM or registers</a:t>
            </a:r>
          </a:p>
          <a:p>
            <a:pPr algn="l" marL="0" indent="0" lvl="0">
              <a:lnSpc>
                <a:spcPts val="4845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5673929" y="7934500"/>
            <a:ext cx="6763819" cy="1323800"/>
            <a:chOff x="0" y="0"/>
            <a:chExt cx="1288625" cy="2522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8625" cy="252207"/>
            </a:xfrm>
            <a:custGeom>
              <a:avLst/>
              <a:gdLst/>
              <a:ahLst/>
              <a:cxnLst/>
              <a:rect r="r" b="b" t="t" l="l"/>
              <a:pathLst>
                <a:path h="252207" w="1288625">
                  <a:moveTo>
                    <a:pt x="38917" y="0"/>
                  </a:moveTo>
                  <a:lnTo>
                    <a:pt x="1249708" y="0"/>
                  </a:lnTo>
                  <a:cubicBezTo>
                    <a:pt x="1260030" y="0"/>
                    <a:pt x="1269928" y="4100"/>
                    <a:pt x="1277226" y="11398"/>
                  </a:cubicBezTo>
                  <a:cubicBezTo>
                    <a:pt x="1284525" y="18697"/>
                    <a:pt x="1288625" y="28595"/>
                    <a:pt x="1288625" y="38917"/>
                  </a:cubicBezTo>
                  <a:lnTo>
                    <a:pt x="1288625" y="213290"/>
                  </a:lnTo>
                  <a:cubicBezTo>
                    <a:pt x="1288625" y="234783"/>
                    <a:pt x="1271201" y="252207"/>
                    <a:pt x="1249708" y="252207"/>
                  </a:cubicBezTo>
                  <a:lnTo>
                    <a:pt x="38917" y="252207"/>
                  </a:lnTo>
                  <a:cubicBezTo>
                    <a:pt x="17424" y="252207"/>
                    <a:pt x="0" y="234783"/>
                    <a:pt x="0" y="213290"/>
                  </a:cubicBezTo>
                  <a:lnTo>
                    <a:pt x="0" y="38917"/>
                  </a:lnTo>
                  <a:cubicBezTo>
                    <a:pt x="0" y="17424"/>
                    <a:pt x="17424" y="0"/>
                    <a:pt x="38917" y="0"/>
                  </a:cubicBezTo>
                  <a:close/>
                </a:path>
              </a:pathLst>
            </a:custGeom>
            <a:solidFill>
              <a:srgbClr val="059669"/>
            </a:solidFill>
            <a:ln w="38100" cap="rnd">
              <a:solidFill>
                <a:srgbClr val="111827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88625" cy="252207"/>
            </a:xfrm>
            <a:prstGeom prst="rect">
              <a:avLst/>
            </a:prstGeom>
          </p:spPr>
          <p:txBody>
            <a:bodyPr anchor="ctr" rtlCol="false" tIns="133546" lIns="133546" bIns="133546" rIns="133546"/>
            <a:lstStyle/>
            <a:p>
              <a:pPr algn="ctr">
                <a:lnSpc>
                  <a:spcPts val="39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51785" y="927489"/>
            <a:ext cx="3354768" cy="2369305"/>
          </a:xfrm>
          <a:custGeom>
            <a:avLst/>
            <a:gdLst/>
            <a:ahLst/>
            <a:cxnLst/>
            <a:rect r="r" b="b" t="t" l="l"/>
            <a:pathLst>
              <a:path h="2369305" w="3354768">
                <a:moveTo>
                  <a:pt x="0" y="0"/>
                </a:moveTo>
                <a:lnTo>
                  <a:pt x="3354768" y="0"/>
                </a:lnTo>
                <a:lnTo>
                  <a:pt x="3354768" y="2369305"/>
                </a:lnTo>
                <a:lnTo>
                  <a:pt x="0" y="2369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410748" y="5890918"/>
            <a:ext cx="4928975" cy="4313935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5995051" y="7924975"/>
            <a:ext cx="6024412" cy="165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</a:pPr>
            <a:r>
              <a:rPr lang="en-US" b="true" sz="2179" spc="4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RAM: LOST WHEN POWER OFF (LIKE A WHITEBOARD)</a:t>
            </a:r>
          </a:p>
          <a:p>
            <a:pPr algn="ctr">
              <a:lnSpc>
                <a:spcPts val="2615"/>
              </a:lnSpc>
            </a:pPr>
            <a:r>
              <a:rPr lang="en-US" b="true" sz="2179" spc="43">
                <a:solidFill>
                  <a:srgbClr val="FFFFFF"/>
                </a:solidFill>
                <a:latin typeface="Roboto Mono Bold"/>
                <a:ea typeface="Roboto Mono Bold"/>
                <a:cs typeface="Roboto Mono Bold"/>
                <a:sym typeface="Roboto Mono Bold"/>
              </a:rPr>
              <a:t>ROM: stays forever (like a printed book)</a:t>
            </a:r>
          </a:p>
          <a:p>
            <a:pPr algn="ctr">
              <a:lnSpc>
                <a:spcPts val="26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8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56" y="408897"/>
            <a:ext cx="17256534" cy="9053457"/>
            <a:chOff x="0" y="0"/>
            <a:chExt cx="4544931" cy="2384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931" cy="2384450"/>
            </a:xfrm>
            <a:custGeom>
              <a:avLst/>
              <a:gdLst/>
              <a:ahLst/>
              <a:cxnLst/>
              <a:rect r="r" b="b" t="t" l="l"/>
              <a:pathLst>
                <a:path h="2384450" w="4544931">
                  <a:moveTo>
                    <a:pt x="11216" y="0"/>
                  </a:moveTo>
                  <a:lnTo>
                    <a:pt x="4533715" y="0"/>
                  </a:lnTo>
                  <a:cubicBezTo>
                    <a:pt x="4539909" y="0"/>
                    <a:pt x="4544931" y="5022"/>
                    <a:pt x="4544931" y="11216"/>
                  </a:cubicBezTo>
                  <a:lnTo>
                    <a:pt x="4544931" y="2373234"/>
                  </a:lnTo>
                  <a:cubicBezTo>
                    <a:pt x="4544931" y="2376208"/>
                    <a:pt x="4543749" y="2379061"/>
                    <a:pt x="4541646" y="2381165"/>
                  </a:cubicBezTo>
                  <a:cubicBezTo>
                    <a:pt x="4539542" y="2383268"/>
                    <a:pt x="4536689" y="2384450"/>
                    <a:pt x="4533715" y="2384450"/>
                  </a:cubicBezTo>
                  <a:lnTo>
                    <a:pt x="11216" y="2384450"/>
                  </a:lnTo>
                  <a:cubicBezTo>
                    <a:pt x="5022" y="2384450"/>
                    <a:pt x="0" y="2379428"/>
                    <a:pt x="0" y="2373234"/>
                  </a:cubicBezTo>
                  <a:lnTo>
                    <a:pt x="0" y="11216"/>
                  </a:lnTo>
                  <a:cubicBezTo>
                    <a:pt x="0" y="5022"/>
                    <a:pt x="5022" y="0"/>
                    <a:pt x="11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4931" cy="242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7318" y="3917598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39813" y="408897"/>
            <a:ext cx="8519487" cy="8519487"/>
          </a:xfrm>
          <a:custGeom>
            <a:avLst/>
            <a:gdLst/>
            <a:ahLst/>
            <a:cxnLst/>
            <a:rect r="r" b="b" t="t" l="l"/>
            <a:pathLst>
              <a:path h="8519487" w="8519487">
                <a:moveTo>
                  <a:pt x="0" y="0"/>
                </a:moveTo>
                <a:lnTo>
                  <a:pt x="8519487" y="0"/>
                </a:lnTo>
                <a:lnTo>
                  <a:pt x="8519487" y="8519487"/>
                </a:lnTo>
                <a:lnTo>
                  <a:pt x="0" y="8519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554116" y="792098"/>
            <a:ext cx="5888976" cy="247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13"/>
              </a:lnSpc>
            </a:pPr>
            <a:r>
              <a:rPr lang="en-US" sz="7897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what is algorithm?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58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6756" y="408897"/>
            <a:ext cx="17256534" cy="9053457"/>
            <a:chOff x="0" y="0"/>
            <a:chExt cx="4544931" cy="2384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931" cy="2384450"/>
            </a:xfrm>
            <a:custGeom>
              <a:avLst/>
              <a:gdLst/>
              <a:ahLst/>
              <a:cxnLst/>
              <a:rect r="r" b="b" t="t" l="l"/>
              <a:pathLst>
                <a:path h="2384450" w="4544931">
                  <a:moveTo>
                    <a:pt x="11216" y="0"/>
                  </a:moveTo>
                  <a:lnTo>
                    <a:pt x="4533715" y="0"/>
                  </a:lnTo>
                  <a:cubicBezTo>
                    <a:pt x="4539909" y="0"/>
                    <a:pt x="4544931" y="5022"/>
                    <a:pt x="4544931" y="11216"/>
                  </a:cubicBezTo>
                  <a:lnTo>
                    <a:pt x="4544931" y="2373234"/>
                  </a:lnTo>
                  <a:cubicBezTo>
                    <a:pt x="4544931" y="2376208"/>
                    <a:pt x="4543749" y="2379061"/>
                    <a:pt x="4541646" y="2381165"/>
                  </a:cubicBezTo>
                  <a:cubicBezTo>
                    <a:pt x="4539542" y="2383268"/>
                    <a:pt x="4536689" y="2384450"/>
                    <a:pt x="4533715" y="2384450"/>
                  </a:cubicBezTo>
                  <a:lnTo>
                    <a:pt x="11216" y="2384450"/>
                  </a:lnTo>
                  <a:cubicBezTo>
                    <a:pt x="5022" y="2384450"/>
                    <a:pt x="0" y="2379428"/>
                    <a:pt x="0" y="2373234"/>
                  </a:cubicBezTo>
                  <a:lnTo>
                    <a:pt x="0" y="11216"/>
                  </a:lnTo>
                  <a:cubicBezTo>
                    <a:pt x="0" y="5022"/>
                    <a:pt x="5022" y="0"/>
                    <a:pt x="112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4931" cy="242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554116" y="792098"/>
            <a:ext cx="5888976" cy="247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713"/>
              </a:lnSpc>
            </a:pPr>
            <a:r>
              <a:rPr lang="en-US" sz="7897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what is algorithm?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7318" y="3917598"/>
            <a:ext cx="3785616" cy="4114800"/>
          </a:xfrm>
          <a:custGeom>
            <a:avLst/>
            <a:gdLst/>
            <a:ahLst/>
            <a:cxnLst/>
            <a:rect r="r" b="b" t="t" l="l"/>
            <a:pathLst>
              <a:path h="4114800" w="3785616">
                <a:moveTo>
                  <a:pt x="0" y="0"/>
                </a:moveTo>
                <a:lnTo>
                  <a:pt x="3785616" y="0"/>
                </a:lnTo>
                <a:lnTo>
                  <a:pt x="37856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95155" y="1166308"/>
            <a:ext cx="525518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902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make CHAI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80315" y="2457757"/>
            <a:ext cx="10516359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•A step-by-step set of instructions to solve a problem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•Like a recipe — follow the steps, get the result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•Must be: clear, finite (must end), and correct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•Used in search engines, GPS, social media feeds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•Robots follow algorithms to move, sense, and decide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•Good algorithms = fast &amp; efficient programs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29727" y="7743497"/>
            <a:ext cx="48442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that’s an algo...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C5FF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601370">
            <a:off x="-269976" y="898623"/>
            <a:ext cx="8727118" cy="15381003"/>
            <a:chOff x="0" y="0"/>
            <a:chExt cx="3571402" cy="62943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821" y="0"/>
              <a:ext cx="3568581" cy="6294297"/>
            </a:xfrm>
            <a:custGeom>
              <a:avLst/>
              <a:gdLst/>
              <a:ahLst/>
              <a:cxnLst/>
              <a:rect r="r" b="b" t="t" l="l"/>
              <a:pathLst>
                <a:path h="6294297" w="3568581">
                  <a:moveTo>
                    <a:pt x="3568581" y="292100"/>
                  </a:moveTo>
                  <a:cubicBezTo>
                    <a:pt x="3568581" y="131445"/>
                    <a:pt x="3376859" y="0"/>
                    <a:pt x="3142532" y="0"/>
                  </a:cubicBezTo>
                  <a:lnTo>
                    <a:pt x="351726" y="0"/>
                  </a:lnTo>
                  <a:cubicBezTo>
                    <a:pt x="117399" y="0"/>
                    <a:pt x="-27586" y="129159"/>
                    <a:pt x="4403" y="287020"/>
                  </a:cubicBezTo>
                  <a:lnTo>
                    <a:pt x="1505578" y="5766562"/>
                  </a:lnTo>
                  <a:cubicBezTo>
                    <a:pt x="1548924" y="5924423"/>
                    <a:pt x="1771580" y="6081649"/>
                    <a:pt x="2000535" y="6115812"/>
                  </a:cubicBezTo>
                  <a:lnTo>
                    <a:pt x="3152164" y="6287770"/>
                  </a:lnTo>
                  <a:cubicBezTo>
                    <a:pt x="3381119" y="6321933"/>
                    <a:pt x="3568396" y="6218555"/>
                    <a:pt x="3568396" y="6057900"/>
                  </a:cubicBezTo>
                  <a:lnTo>
                    <a:pt x="3568581" y="292100"/>
                  </a:lnTo>
                  <a:close/>
                </a:path>
              </a:pathLst>
            </a:custGeom>
            <a:solidFill>
              <a:srgbClr val="7C98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250574" y="1440524"/>
            <a:ext cx="8008726" cy="6474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592"/>
              </a:lnSpc>
              <a:spcBef>
                <a:spcPct val="0"/>
              </a:spcBef>
            </a:pPr>
            <a:r>
              <a:rPr lang="en-US" sz="26731">
                <a:solidFill>
                  <a:srgbClr val="280F91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DAHF4dCYedk</dc:identifier>
  <dcterms:modified xsi:type="dcterms:W3CDTF">2011-08-01T06:04:30Z</dcterms:modified>
  <cp:revision>1</cp:revision>
  <dc:title>digital computing</dc:title>
</cp:coreProperties>
</file>